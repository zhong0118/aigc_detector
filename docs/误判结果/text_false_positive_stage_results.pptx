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87f9bd9bf049e9" /><Relationship Type="http://schemas.openxmlformats.org/officeDocument/2006/relationships/extended-properties" Target="/docProps/app.xml" Id="Rd6525d2053364ab4" /><Relationship Type="http://schemas.openxmlformats.org/officeDocument/2006/relationships/officeDocument" Target="/ppt/presentation.xml" Id="R17b89ca29143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10b541a98482c"/>
  </p:sldMasterIdLst>
  <p:notesMasterIdLst>
    <p:notesMasterId xmlns:r="http://schemas.openxmlformats.org/officeDocument/2006/relationships" r:id="Re8e17363958b48af"/>
  </p:notesMasterIdLst>
  <p:sldIdLst>
    <p:sldId xmlns:r="http://schemas.openxmlformats.org/officeDocument/2006/relationships" id="256" r:id="R62a146ef19014df7"/>
    <p:sldId xmlns:r="http://schemas.openxmlformats.org/officeDocument/2006/relationships" id="257" r:id="R52d0669ef30649b8"/>
    <p:sldId xmlns:r="http://schemas.openxmlformats.org/officeDocument/2006/relationships" id="258" r:id="R74530642470a4689"/>
    <p:sldId xmlns:r="http://schemas.openxmlformats.org/officeDocument/2006/relationships" id="259" r:id="R72af01aa86144e64"/>
    <p:sldId xmlns:r="http://schemas.openxmlformats.org/officeDocument/2006/relationships" id="260" r:id="Raab25c7fe7954dc3"/>
    <p:sldId xmlns:r="http://schemas.openxmlformats.org/officeDocument/2006/relationships" id="261" r:id="R8b66b6a3825148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e52e5152fc44df" /><Relationship Type="http://schemas.openxmlformats.org/officeDocument/2006/relationships/slideMaster" Target="/ppt/slideMasters/slideMaster1.xml" Id="R01b10b541a98482c" /><Relationship Type="http://schemas.openxmlformats.org/officeDocument/2006/relationships/notesMaster" Target="/ppt/notesMasters/notesMaster1.xml" Id="Re8e17363958b48af" /><Relationship Type="http://schemas.openxmlformats.org/officeDocument/2006/relationships/presProps" Target="/ppt/presProps.xml" Id="R5f7ce84c99014919" /><Relationship Type="http://schemas.openxmlformats.org/officeDocument/2006/relationships/tableStyles" Target="/ppt/tableStyles.xml" Id="R1b08f9aa423e4147" /><Relationship Type="http://schemas.openxmlformats.org/officeDocument/2006/relationships/slide" Target="/ppt/slides/slide1.xml" Id="R62a146ef19014df7" /><Relationship Type="http://schemas.openxmlformats.org/officeDocument/2006/relationships/slide" Target="/ppt/slides/slide2.xml" Id="R52d0669ef30649b8" /><Relationship Type="http://schemas.openxmlformats.org/officeDocument/2006/relationships/slide" Target="/ppt/slides/slide3.xml" Id="R74530642470a4689" /><Relationship Type="http://schemas.openxmlformats.org/officeDocument/2006/relationships/slide" Target="/ppt/slides/slide4.xml" Id="R72af01aa86144e64" /><Relationship Type="http://schemas.openxmlformats.org/officeDocument/2006/relationships/slide" Target="/ppt/slides/slide5.xml" Id="Raab25c7fe7954dc3" /><Relationship Type="http://schemas.openxmlformats.org/officeDocument/2006/relationships/slide" Target="/ppt/slides/slide6.xml" Id="R8b66b6a38251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430f3fa866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0fe1b41dd4ec2" /><Relationship Type="http://schemas.openxmlformats.org/officeDocument/2006/relationships/notesMaster" Target="/ppt/notesMasters/notesMaster1.xml" Id="R2b5752b137d6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5ed4525b5c443d" /><Relationship Type="http://schemas.openxmlformats.org/officeDocument/2006/relationships/notesMaster" Target="/ppt/notesMasters/notesMaster1.xml" Id="R5e758c259e9e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1022e99a74d87" /><Relationship Type="http://schemas.openxmlformats.org/officeDocument/2006/relationships/notesMaster" Target="/ppt/notesMasters/notesMaster1.xml" Id="R346035774a2c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fe830b429493d" /><Relationship Type="http://schemas.openxmlformats.org/officeDocument/2006/relationships/notesMaster" Target="/ppt/notesMasters/notesMaster1.xml" Id="R5992c12b63e14e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cb8b05f5ec4a9e" /><Relationship Type="http://schemas.openxmlformats.org/officeDocument/2006/relationships/notesMaster" Target="/ppt/notesMasters/notesMaster1.xml" Id="R1449361d2336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e287efe904411e" /><Relationship Type="http://schemas.openxmlformats.org/officeDocument/2006/relationships/notesMaster" Target="/ppt/notesMasters/notesMaster1.xml" Id="R6f5fa0fa17bd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用户提供的服务器 bootstrap 输出 JSON 片段，2026-07-26。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用户提供的服务器 bootstrap 输出：global 组样本数、detector_failures.total、groups 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用户提供的服务器 bootstrap 输出：sources、validation_sources、source_length_buckets、excluded_short_by_source。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用户提供的服务器 bootstrap 输出：groups.zh、groups.en。</a:t>
            </a:r>
          </a:p>
          <a:p xmlns:a="http://schemas.openxmlformats.org/drawingml/2006/main">
            <a:r>
              <a:t>- 图中 FPR、AI Recall、AUROC 均换算为百分数。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用户提供的服务器 bootstrap 输出：13 个 language:domain:length 精确分组。</a:t>
            </a:r>
          </a:p>
          <a:p xmlns:a="http://schemas.openxmlformats.org/drawingml/2006/main">
            <a:r>
              <a:t>- 本页选取 8 个代表性分组；完整 13 组见配套 Markdown 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阶段结论依据用户提供的 bootstrap 指标及当前项目实现。</a:t>
            </a:r>
          </a:p>
          <a:p xmlns:a="http://schemas.openxmlformats.org/drawingml/2006/main">
            <a:r>
              <a:t>- 下一阶段建议为基于本次结果的工程推论，不表示已完成。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2e383370c4c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5d8229c1d34f5f" /><Relationship Type="http://schemas.openxmlformats.org/officeDocument/2006/relationships/slideLayout" Target="/ppt/slideLayouts/slideLayout1.xml" Id="R6f95f1605a5b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95f1605a5b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3f80ad9d24532" /><Relationship Type="http://schemas.openxmlformats.org/officeDocument/2006/relationships/notesSlide" Target="/ppt/notesSlides/notesSlide1.xml" Id="R135e45792428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4898f447d4dcb" /><Relationship Type="http://schemas.openxmlformats.org/officeDocument/2006/relationships/notesSlide" Target="/ppt/notesSlides/notesSlide2.xml" Id="R7c2f8bf6c86d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ad067097c48bc" /><Relationship Type="http://schemas.openxmlformats.org/officeDocument/2006/relationships/notesSlide" Target="/ppt/notesSlides/notesSlide3.xml" Id="R3944fa82dff345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95914b984ab1" /><Relationship Type="http://schemas.openxmlformats.org/officeDocument/2006/relationships/chart" Target="/ppt/slides/charts/chart1.xml" Id="Ref2487227f5e4f4f" /><Relationship Type="http://schemas.openxmlformats.org/officeDocument/2006/relationships/notesSlide" Target="/ppt/notesSlides/notesSlide4.xml" Id="R5bb22e36ef8d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e32c462d4e51" /><Relationship Type="http://schemas.openxmlformats.org/officeDocument/2006/relationships/notesSlide" Target="/ppt/notesSlides/notesSlide5.xml" Id="R418376675dea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c8522cc9f451d" /><Relationship Type="http://schemas.openxmlformats.org/officeDocument/2006/relationships/notesSlide" Target="/ppt/notesSlides/notesSlide6.xml" Id="R314c1f58f7d8426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中文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观察误报率</c:v>
              </c:pt>
              <c:pt idx="1">
                <c:v>AI 召回率</c:v>
              </c:pt>
              <c:pt idx="2">
                <c:v>AUROC</c:v>
              </c:pt>
            </c:strLit>
          </c:cat>
          <c:val>
            <c:numLit>
              <c:formatCode>0"%"</c:formatCode>
              <c:ptCount val="3"/>
              <c:pt idx="0">
                <c:v>2.1473</c:v>
              </c:pt>
              <c:pt idx="1">
                <c:v>74.6756</c:v>
              </c:pt>
              <c:pt idx="2">
                <c:v>94.0644</c:v>
              </c:pt>
            </c:numLit>
          </c:val>
        </c:ser>
        <c:ser>
          <c:idx val="1"/>
          <c:order val="1"/>
          <c:tx>
            <c:v>英文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观察误报率</c:v>
              </c:pt>
              <c:pt idx="1">
                <c:v>AI 召回率</c:v>
              </c:pt>
              <c:pt idx="2">
                <c:v>AUROC</c:v>
              </c:pt>
            </c:strLit>
          </c:cat>
          <c:val>
            <c:numLit>
              <c:formatCode>0"%"</c:formatCode>
              <c:ptCount val="3"/>
              <c:pt idx="0">
                <c:v>2.0611</c:v>
              </c:pt>
              <c:pt idx="1">
                <c:v>7.2523</c:v>
              </c:pt>
              <c:pt idx="2">
                <c:v>75.5633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A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E6895-7F5E-4DD6-83A1-260C961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AIGC 文本检测 · 阶段成果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37120-100D-41DB-95FC-9A8D4E8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文本误报控制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多领域校准结果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39D07-36FF-4F42-92F4-5164F111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6E170-66D4-4DCD-A2F1-85BC6FD0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 类公开语料｜49,905 条真人校准｜目标误报率 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CDD08-7E4C-44D4-97C1-781A2AC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服务器最终 bootstrap 结果整理</a:t>
            </a:r>
          </a:p>
        </p:txBody>
      </p:sp>
    </p:spTree>
    <p:extLst>
      <p:ext uri="{BB962C8B-B14F-4D97-AF65-F5344CB8AC3E}">
        <p14:creationId xmlns:p14="http://schemas.microsoft.com/office/powerpoint/2010/main" val="1666226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5DA13-518F-496D-8321-E13FAD4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误报控制从单阈值升级为分层校准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32137-4A96-4CD1-94A3-017AE4B6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ED1CD-C523-46D2-9753-32F1D8E2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原检测模型保持不变；新增语言 × 领域 × 长度分组，用真人校准阈值，再用独立真人与 AI 样本评估。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9D48F-51D4-4247-A905-805424E4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85695-754D-4299-A8E2-C3FEE503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11B89-7BF4-44F1-9238-255ACEC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49,905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34F78-8029-4127-B856-31ED0376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真人校准样本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1557A-BFAE-4B7F-A294-33649F6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3360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5ADF7-CC7E-4CEE-A255-5D17E90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336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3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D4D3-99D6-4DD2-83CE-C8801B70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003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rPr>
              <a:t>10,411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C54BE-2A5C-41B8-A8BE-EC41AA81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9555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独立真人验证样本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45D1F-3A1B-4585-912B-176E7D6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AFB30-150C-4614-9F19-3355AC3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C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81AFF-CE86-44FF-B83B-2FEE19CE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27C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27C0E"/>
                </a:solidFill>
                <a:latin typeface="Microsoft YaHei"/>
                <a:ea typeface="Microsoft YaHei"/>
                <a:cs typeface="Microsoft YaHei"/>
              </a:rPr>
              <a:t>7,585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D3473-09AB-44D2-92AF-E41D7A0E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独立 AI 验证样本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07371-B80C-4C2F-9B7B-A9CBBAB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66D3A-9D9E-4930-AAF7-CE477B2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75558-1239-439A-886F-57CB6FC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62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89C61-24FE-4477-BB5B-03C4AD9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577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已发布阈值组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推理失败 0 条</a:t>
            </a:r>
          </a:p>
        </p:txBody>
      </p:sp>
    </p:spTree>
    <p:extLst>
      <p:ext uri="{BB962C8B-B14F-4D97-AF65-F5344CB8AC3E}">
        <p14:creationId xmlns:p14="http://schemas.microsoft.com/office/powerpoint/2010/main" val="2131629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E4CB0-B320-4246-AD31-727A4AAD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 类语料覆盖文学、学术、问答和新闻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29BC1-56AB-4DA2-8D1A-B5322C8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CB553-DD09-4D9D-B4E7-330ED80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完整扫描；过滤小于 20 个有效字符的样本 38,488 条；长文每篇最多取 1 个 480–640 字窗口。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9240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2381250"/>
                <a:gridCol w="2047875"/>
                <a:gridCol w="1524000"/>
                <a:gridCol w="1666875"/>
                <a:gridCol w="2095500"/>
                <a:gridCol w="1676400"/>
              </a:tblGrid>
              <a:tr h="4550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主要覆盖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真人验证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 / 长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&lt;20 剔除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Chinese Poetry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中文文学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 / 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5,165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Classical Corpus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古籍文学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1,535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1,535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7,721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中文学术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7,915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4,311 / 3,604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 English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英文问答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7,595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1,511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5,137 / 2,458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 Chinese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中文问答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4,759 / 3,337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1,491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TNEWS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中文新闻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 / 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23,944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M4 Multilingual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多语言/多领域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9,692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1,119 / 8,573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RAID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英文多领域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5,072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1,179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5,068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857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4B25F-28C6-4C3D-AE2C-709C16A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中文误报控制稳定，英文灵敏度仍然不足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BAF7-8BB6-48BC-82B7-41B86949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62785-94A4-42B2-8609-FC1BBFAD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59055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5429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2487227f5e4f4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E77D6-3BE0-4F2A-8F75-50647BC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66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观察结果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8952-93F0-4E26-85B6-DBA2EABE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两种语言的真人误报率都接近 2% 目标，但检测灵敏度差异明显。中文总体 AI 召回 74.7%，英文仅 7.3%。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9EAA0-9441-44B2-A30E-EA7232C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8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rPr>
              <a:t>94.84%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B7B5C-067E-4702-A411-0D2ACB3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中文高阈值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D7420-FAF0-4468-9F48-B719950F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48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4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9463D"/>
                </a:solidFill>
                <a:latin typeface="Microsoft YaHei"/>
                <a:ea typeface="Microsoft YaHei"/>
                <a:cs typeface="Microsoft YaHei"/>
              </a:rPr>
              <a:t>99.96%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8ECA-FD6D-4330-B644-CC8F154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英文高阈值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E6478-F249-446E-B917-C735970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4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9463D"/>
                </a:solidFill>
                <a:latin typeface="Microsoft YaHei"/>
                <a:ea typeface="Microsoft YaHei"/>
                <a:cs typeface="Microsoft YaHei"/>
              </a:rPr>
              <a:t>含义：当前方法降低了误报，但英文模型几乎只有极高分才判为高风险。</a:t>
            </a:r>
          </a:p>
        </p:txBody>
      </p:sp>
    </p:spTree>
    <p:extLst>
      <p:ext uri="{BB962C8B-B14F-4D97-AF65-F5344CB8AC3E}">
        <p14:creationId xmlns:p14="http://schemas.microsoft.com/office/powerpoint/2010/main" val="1506005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450E-4884-4549-A131-BB8F6D6A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精确分组证明效果并不均衡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3180-1887-4B5C-B630-A323688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3C61C-3EEA-4D77-9E2E-A584039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高阈值用于压低真人误报；AI 召回反映代价。n/a 表示该组缺少独立 AI 验证，不能评价识别能力。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9240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 firstRow="1" firstCol="0" bandRow="0"/>
              <a:tblGrid>
                <a:gridCol w="3143250"/>
                <a:gridCol w="1571625"/>
                <a:gridCol w="1666875"/>
                <a:gridCol w="1619250"/>
                <a:gridCol w="1619250"/>
                <a:gridCol w="1771650"/>
              </a:tblGrid>
              <a:tr h="4550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精确分组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高阈值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真人验证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 FPR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召回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AUROC</a:t>
                      </a:r>
                    </a:p>
                  </a:txBody>
                  <a:tcPr marL="76200" marR="76200" marT="47625" marB="47625" anchor="ctr">
                    <a:solidFill>
                      <a:srgbClr val="D8F0FB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中文·学术·长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94.06%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97.33%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中文·问答·长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95.91%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86.00%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0.972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中文·问答·短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98.32%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48.30%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0.907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中文·文学·短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93.98%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英文·问答·短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80.00%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41.53%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0.903</a:t>
                      </a:r>
                    </a:p>
                  </a:txBody>
                  <a:tcPr marL="76200" marR="76200" marT="38100" marB="38100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英文·新闻·长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99.83%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30.20%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0.813</a:t>
                      </a:r>
                    </a:p>
                  </a:txBody>
                  <a:tcPr marL="76200" marR="76200" marT="38100" marB="38100" anchor="ctr">
                    <a:solidFill>
                      <a:srgbClr val="F7F8F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英文·学术·长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99.96%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8.10%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0.656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英文·文学·长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99.97%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701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0.00%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0.707</a:t>
                      </a:r>
                    </a:p>
                  </a:txBody>
                  <a:tcPr marL="76200" marR="76200" marT="38100" marB="38100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49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005A-F85C-42A9-8AF4-BC69BB1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阶段成果可交付，英文检测需要专项改进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934FB-93D2-4D5B-B6C7-5F848174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741D9-7BD3-41A6-8CE9-25FB9DC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936E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6F54-34DA-4B24-90C2-7D25691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8 类语料自动下载、清洗和确定性抽样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语言 × 领域 × 长度分层阈值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稀疏精确组自动回退到可靠上级组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阈值、FPR、召回、AUROC 和警告完整留痕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F2BB9-7326-4D1F-B945-91071FF4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190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85187-96A8-423B-BBEE-1968E324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90A55-7F25-4D50-BBEF-2A7C4CB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 扩充英文文学、新闻和专业真人困难集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 对英文长文本模型重训或更换基线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 以 FPR ≤ 2% 为约束，优化 AI 召回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 补齐中文文学/新闻 AI 验证集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3479E-FC37-44CE-975E-E0BBCBDB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结论：误报控制层已形成可运行、可解释、可复现的阶段成果；当前主要瓶颈已从“误报过高”转为“英文召回不足”。</a:t>
            </a:r>
          </a:p>
        </p:txBody>
      </p:sp>
    </p:spTree>
    <p:extLst>
      <p:ext uri="{BB962C8B-B14F-4D97-AF65-F5344CB8AC3E}">
        <p14:creationId xmlns:p14="http://schemas.microsoft.com/office/powerpoint/2010/main" val="949031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2026-07-25T19:06:18.6230000Z</dcterms:created>
  <dcterms:modified xsi:type="dcterms:W3CDTF">2026-07-25T19:06:18.6230000Z</dcterms:modified>
</coreProperties>
</file>